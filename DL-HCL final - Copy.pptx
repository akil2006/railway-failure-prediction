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8" r:id="rId3"/>
    <p:sldId id="279" r:id="rId4"/>
    <p:sldId id="260" r:id="rId5"/>
    <p:sldId id="277" r:id="rId6"/>
    <p:sldId id="285" r:id="rId7"/>
    <p:sldId id="263" r:id="rId8"/>
    <p:sldId id="286" r:id="rId9"/>
    <p:sldId id="282" r:id="rId10"/>
    <p:sldId id="283" r:id="rId11"/>
    <p:sldId id="284" r:id="rId12"/>
    <p:sldId id="287" r:id="rId13"/>
    <p:sldId id="281" r:id="rId14"/>
    <p:sldId id="288" r:id="rId15"/>
    <p:sldId id="271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28F45-3E99-4439-AECE-210C9B5B42A3}" v="16" dt="2026-05-28T03:16:24.314"/>
  </p1510:revLst>
</p1510:revInfo>
</file>

<file path=ppt/tableStyles.xml><?xml version="1.0" encoding="utf-8"?>
<a:tblStyleLst xmlns:a="http://schemas.openxmlformats.org/drawingml/2006/main" def="{092DB03B-1C6F-4B9B-B4D4-988654A8A710}">
  <a:tblStyle styleId="{092DB03B-1C6F-4B9B-B4D4-988654A8A71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IL AKASH" userId="7080d982b71d4e15" providerId="LiveId" clId="{727A5AA1-1600-4764-B03E-603696CE7F4E}"/>
    <pc:docChg chg="undo custSel addSld delSld modSld sldOrd">
      <pc:chgData name="AKIL AKASH" userId="7080d982b71d4e15" providerId="LiveId" clId="{727A5AA1-1600-4764-B03E-603696CE7F4E}" dt="2026-05-28T03:17:11.681" v="1728" actId="12"/>
      <pc:docMkLst>
        <pc:docMk/>
      </pc:docMkLst>
      <pc:sldChg chg="del">
        <pc:chgData name="AKIL AKASH" userId="7080d982b71d4e15" providerId="LiveId" clId="{727A5AA1-1600-4764-B03E-603696CE7F4E}" dt="2026-05-27T13:37:57.246" v="1175" actId="47"/>
        <pc:sldMkLst>
          <pc:docMk/>
          <pc:sldMk cId="0" sldId="259"/>
        </pc:sldMkLst>
      </pc:sldChg>
      <pc:sldChg chg="addSp delSp modSp del mod">
        <pc:chgData name="AKIL AKASH" userId="7080d982b71d4e15" providerId="LiveId" clId="{727A5AA1-1600-4764-B03E-603696CE7F4E}" dt="2026-05-27T13:37:43.876" v="1173" actId="47"/>
        <pc:sldMkLst>
          <pc:docMk/>
          <pc:sldMk cId="0" sldId="261"/>
        </pc:sldMkLst>
      </pc:sldChg>
      <pc:sldChg chg="addSp modSp del mod">
        <pc:chgData name="AKIL AKASH" userId="7080d982b71d4e15" providerId="LiveId" clId="{727A5AA1-1600-4764-B03E-603696CE7F4E}" dt="2026-05-27T13:37:47.260" v="1174" actId="47"/>
        <pc:sldMkLst>
          <pc:docMk/>
          <pc:sldMk cId="0" sldId="262"/>
        </pc:sldMkLst>
      </pc:sldChg>
      <pc:sldChg chg="addSp modSp mod">
        <pc:chgData name="AKIL AKASH" userId="7080d982b71d4e15" providerId="LiveId" clId="{727A5AA1-1600-4764-B03E-603696CE7F4E}" dt="2026-05-28T03:02:31.797" v="1414" actId="14100"/>
        <pc:sldMkLst>
          <pc:docMk/>
          <pc:sldMk cId="0" sldId="263"/>
        </pc:sldMkLst>
        <pc:spChg chg="mod">
          <ac:chgData name="AKIL AKASH" userId="7080d982b71d4e15" providerId="LiveId" clId="{727A5AA1-1600-4764-B03E-603696CE7F4E}" dt="2026-05-28T03:02:31.797" v="1414" actId="14100"/>
          <ac:spMkLst>
            <pc:docMk/>
            <pc:sldMk cId="0" sldId="263"/>
            <ac:spMk id="2" creationId="{F7196DA7-5F24-E8ED-D915-85BF6C504A06}"/>
          </ac:spMkLst>
        </pc:spChg>
        <pc:spChg chg="add mod">
          <ac:chgData name="AKIL AKASH" userId="7080d982b71d4e15" providerId="LiveId" clId="{727A5AA1-1600-4764-B03E-603696CE7F4E}" dt="2026-05-28T03:02:23.465" v="1412" actId="20577"/>
          <ac:spMkLst>
            <pc:docMk/>
            <pc:sldMk cId="0" sldId="263"/>
            <ac:spMk id="3" creationId="{2C864AA9-DA5D-F73F-7568-B912998825CC}"/>
          </ac:spMkLst>
        </pc:spChg>
        <pc:spChg chg="mod">
          <ac:chgData name="AKIL AKASH" userId="7080d982b71d4e15" providerId="LiveId" clId="{727A5AA1-1600-4764-B03E-603696CE7F4E}" dt="2026-05-28T02:59:59.371" v="1367" actId="207"/>
          <ac:spMkLst>
            <pc:docMk/>
            <pc:sldMk cId="0" sldId="263"/>
            <ac:spMk id="135" creationId="{00000000-0000-0000-0000-000000000000}"/>
          </ac:spMkLst>
        </pc:spChg>
      </pc:sldChg>
      <pc:sldChg chg="modSp mod">
        <pc:chgData name="AKIL AKASH" userId="7080d982b71d4e15" providerId="LiveId" clId="{727A5AA1-1600-4764-B03E-603696CE7F4E}" dt="2026-05-28T03:17:11.681" v="1728" actId="12"/>
        <pc:sldMkLst>
          <pc:docMk/>
          <pc:sldMk cId="150049244" sldId="281"/>
        </pc:sldMkLst>
        <pc:spChg chg="mod">
          <ac:chgData name="AKIL AKASH" userId="7080d982b71d4e15" providerId="LiveId" clId="{727A5AA1-1600-4764-B03E-603696CE7F4E}" dt="2026-05-28T03:16:39.456" v="1712" actId="20577"/>
          <ac:spMkLst>
            <pc:docMk/>
            <pc:sldMk cId="150049244" sldId="281"/>
            <ac:spMk id="2" creationId="{FCED6434-9930-F514-5A4D-3A41AD830566}"/>
          </ac:spMkLst>
        </pc:spChg>
        <pc:spChg chg="mod">
          <ac:chgData name="AKIL AKASH" userId="7080d982b71d4e15" providerId="LiveId" clId="{727A5AA1-1600-4764-B03E-603696CE7F4E}" dt="2026-05-28T03:17:11.681" v="1728" actId="12"/>
          <ac:spMkLst>
            <pc:docMk/>
            <pc:sldMk cId="150049244" sldId="281"/>
            <ac:spMk id="4" creationId="{A0147AF5-6BD5-B74B-D70C-B9B5CEADAF3F}"/>
          </ac:spMkLst>
        </pc:spChg>
      </pc:sldChg>
      <pc:sldChg chg="modSp add mod ord">
        <pc:chgData name="AKIL AKASH" userId="7080d982b71d4e15" providerId="LiveId" clId="{727A5AA1-1600-4764-B03E-603696CE7F4E}" dt="2026-05-28T02:57:20.520" v="1341"/>
        <pc:sldMkLst>
          <pc:docMk/>
          <pc:sldMk cId="2581935534" sldId="285"/>
        </pc:sldMkLst>
        <pc:spChg chg="mod">
          <ac:chgData name="AKIL AKASH" userId="7080d982b71d4e15" providerId="LiveId" clId="{727A5AA1-1600-4764-B03E-603696CE7F4E}" dt="2026-05-27T13:46:58.369" v="1339" actId="20577"/>
          <ac:spMkLst>
            <pc:docMk/>
            <pc:sldMk cId="2581935534" sldId="285"/>
            <ac:spMk id="5" creationId="{52CA5984-3A92-A78A-C88B-25FC18FAB487}"/>
          </ac:spMkLst>
        </pc:spChg>
        <pc:spChg chg="mod">
          <ac:chgData name="AKIL AKASH" userId="7080d982b71d4e15" providerId="LiveId" clId="{727A5AA1-1600-4764-B03E-603696CE7F4E}" dt="2026-05-27T13:45:08.291" v="1268" actId="1076"/>
          <ac:spMkLst>
            <pc:docMk/>
            <pc:sldMk cId="2581935534" sldId="285"/>
            <ac:spMk id="115" creationId="{325C655D-3D57-E74A-6F4D-CB2CE2A25D0E}"/>
          </ac:spMkLst>
        </pc:spChg>
      </pc:sldChg>
      <pc:sldChg chg="modSp add mod">
        <pc:chgData name="AKIL AKASH" userId="7080d982b71d4e15" providerId="LiveId" clId="{727A5AA1-1600-4764-B03E-603696CE7F4E}" dt="2026-05-28T03:06:48.933" v="1612" actId="20577"/>
        <pc:sldMkLst>
          <pc:docMk/>
          <pc:sldMk cId="2876639657" sldId="286"/>
        </pc:sldMkLst>
        <pc:spChg chg="mod">
          <ac:chgData name="AKIL AKASH" userId="7080d982b71d4e15" providerId="LiveId" clId="{727A5AA1-1600-4764-B03E-603696CE7F4E}" dt="2026-05-28T03:06:39.640" v="1609" actId="20577"/>
          <ac:spMkLst>
            <pc:docMk/>
            <pc:sldMk cId="2876639657" sldId="286"/>
            <ac:spMk id="2" creationId="{C95E3E71-4AC1-A95C-EFFA-1773D66C417F}"/>
          </ac:spMkLst>
        </pc:spChg>
        <pc:spChg chg="mod">
          <ac:chgData name="AKIL AKASH" userId="7080d982b71d4e15" providerId="LiveId" clId="{727A5AA1-1600-4764-B03E-603696CE7F4E}" dt="2026-05-28T03:06:48.933" v="1612" actId="20577"/>
          <ac:spMkLst>
            <pc:docMk/>
            <pc:sldMk cId="2876639657" sldId="286"/>
            <ac:spMk id="3" creationId="{3A1E9CBB-18E6-5406-A9F4-CBCFA1C42BB7}"/>
          </ac:spMkLst>
        </pc:spChg>
        <pc:spChg chg="mod">
          <ac:chgData name="AKIL AKASH" userId="7080d982b71d4e15" providerId="LiveId" clId="{727A5AA1-1600-4764-B03E-603696CE7F4E}" dt="2026-05-28T03:05:32.171" v="1478" actId="20577"/>
          <ac:spMkLst>
            <pc:docMk/>
            <pc:sldMk cId="2876639657" sldId="286"/>
            <ac:spMk id="135" creationId="{EDC20E27-9443-9CF0-4FEB-9809A82D0F78}"/>
          </ac:spMkLst>
        </pc:spChg>
      </pc:sldChg>
      <pc:sldChg chg="delSp modSp add mod ord">
        <pc:chgData name="AKIL AKASH" userId="7080d982b71d4e15" providerId="LiveId" clId="{727A5AA1-1600-4764-B03E-603696CE7F4E}" dt="2026-05-28T03:16:18.232" v="1694"/>
        <pc:sldMkLst>
          <pc:docMk/>
          <pc:sldMk cId="1547873569" sldId="287"/>
        </pc:sldMkLst>
        <pc:spChg chg="mod">
          <ac:chgData name="AKIL AKASH" userId="7080d982b71d4e15" providerId="LiveId" clId="{727A5AA1-1600-4764-B03E-603696CE7F4E}" dt="2026-05-28T03:09:15.060" v="1691" actId="20577"/>
          <ac:spMkLst>
            <pc:docMk/>
            <pc:sldMk cId="1547873569" sldId="287"/>
            <ac:spMk id="2" creationId="{10844187-FB09-F6D4-1453-F2AD7C4E95D6}"/>
          </ac:spMkLst>
        </pc:spChg>
        <pc:spChg chg="del mod">
          <ac:chgData name="AKIL AKASH" userId="7080d982b71d4e15" providerId="LiveId" clId="{727A5AA1-1600-4764-B03E-603696CE7F4E}" dt="2026-05-28T03:07:56.976" v="1615" actId="478"/>
          <ac:spMkLst>
            <pc:docMk/>
            <pc:sldMk cId="1547873569" sldId="287"/>
            <ac:spMk id="3" creationId="{4CB74693-0F71-309F-0D0A-DA907F4C2486}"/>
          </ac:spMkLst>
        </pc:spChg>
        <pc:spChg chg="mod">
          <ac:chgData name="AKIL AKASH" userId="7080d982b71d4e15" providerId="LiveId" clId="{727A5AA1-1600-4764-B03E-603696CE7F4E}" dt="2026-05-28T03:08:27.861" v="1652" actId="20577"/>
          <ac:spMkLst>
            <pc:docMk/>
            <pc:sldMk cId="1547873569" sldId="287"/>
            <ac:spMk id="135" creationId="{2B641E5C-1F79-41B7-541A-97999A486C83}"/>
          </ac:spMkLst>
        </pc:spChg>
      </pc:sldChg>
      <pc:sldChg chg="add">
        <pc:chgData name="AKIL AKASH" userId="7080d982b71d4e15" providerId="LiveId" clId="{727A5AA1-1600-4764-B03E-603696CE7F4E}" dt="2026-05-28T03:15:58.278" v="1692" actId="2890"/>
        <pc:sldMkLst>
          <pc:docMk/>
          <pc:sldMk cId="391961009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21208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18 July 2025</a:t>
            </a:r>
            <a:endParaRPr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0249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4669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8283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3181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0933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418C2A70-708A-A381-DCAB-FF09F7C3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07172ECC-F337-07D2-7466-68563B30EF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59EF047D-1D8B-7B7A-F497-E9C46111B2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7201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2313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EF73BA83-D0E3-75BE-E9FB-CC517C90F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>
            <a:extLst>
              <a:ext uri="{FF2B5EF4-FFF2-40B4-BE49-F238E27FC236}">
                <a16:creationId xmlns:a16="http://schemas.microsoft.com/office/drawing/2014/main" id="{3D7B869F-BE19-4A0D-BDED-59877AB3F6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>
            <a:extLst>
              <a:ext uri="{FF2B5EF4-FFF2-40B4-BE49-F238E27FC236}">
                <a16:creationId xmlns:a16="http://schemas.microsoft.com/office/drawing/2014/main" id="{DA72259F-5EA8-BADF-544F-8068BC82B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1664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11CF2E72-9564-BA06-6E8A-E8244D152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>
            <a:extLst>
              <a:ext uri="{FF2B5EF4-FFF2-40B4-BE49-F238E27FC236}">
                <a16:creationId xmlns:a16="http://schemas.microsoft.com/office/drawing/2014/main" id="{7F5A4ECF-E155-9FBD-E443-9B0FFCF33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>
            <a:extLst>
              <a:ext uri="{FF2B5EF4-FFF2-40B4-BE49-F238E27FC236}">
                <a16:creationId xmlns:a16="http://schemas.microsoft.com/office/drawing/2014/main" id="{11979556-793A-E243-484B-B1363B83F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6449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62BBC966-C18C-137F-ECCE-4FA41811D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>
            <a:extLst>
              <a:ext uri="{FF2B5EF4-FFF2-40B4-BE49-F238E27FC236}">
                <a16:creationId xmlns:a16="http://schemas.microsoft.com/office/drawing/2014/main" id="{9EA1EF2C-ED17-A3C1-A2B5-EB1423B01B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>
            <a:extLst>
              <a:ext uri="{FF2B5EF4-FFF2-40B4-BE49-F238E27FC236}">
                <a16:creationId xmlns:a16="http://schemas.microsoft.com/office/drawing/2014/main" id="{A394EB88-F856-9ACF-6DBD-7DA1872EF6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8400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3422BC24-0B25-7180-854B-B3E76EBF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>
            <a:extLst>
              <a:ext uri="{FF2B5EF4-FFF2-40B4-BE49-F238E27FC236}">
                <a16:creationId xmlns:a16="http://schemas.microsoft.com/office/drawing/2014/main" id="{D3F001B0-0737-8B53-B706-462A08B82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>
            <a:extLst>
              <a:ext uri="{FF2B5EF4-FFF2-40B4-BE49-F238E27FC236}">
                <a16:creationId xmlns:a16="http://schemas.microsoft.com/office/drawing/2014/main" id="{8FA601A8-C001-A3FF-FC14-5AFAF3152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5526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D2E49CCE-D15C-5DFD-D9B5-239A82B80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>
            <a:extLst>
              <a:ext uri="{FF2B5EF4-FFF2-40B4-BE49-F238E27FC236}">
                <a16:creationId xmlns:a16="http://schemas.microsoft.com/office/drawing/2014/main" id="{FB0B0806-B734-762F-E59B-1C1FC4842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>
            <a:extLst>
              <a:ext uri="{FF2B5EF4-FFF2-40B4-BE49-F238E27FC236}">
                <a16:creationId xmlns:a16="http://schemas.microsoft.com/office/drawing/2014/main" id="{942ED556-75CD-815C-91B1-CBD41CC714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2834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880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0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0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 rot="5400000">
            <a:off x="2377282" y="15082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06.1078" TargetMode="External"/><Relationship Id="rId2" Type="http://schemas.openxmlformats.org/officeDocument/2006/relationships/hyperlink" Target="https://doi.org/10.1162/neco.1997.9.8.1735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cikit-learn.org/" TargetMode="External"/><Relationship Id="rId5" Type="http://schemas.openxmlformats.org/officeDocument/2006/relationships/hyperlink" Target="https://www.tensorflow.org/" TargetMode="External"/><Relationship Id="rId4" Type="http://schemas.openxmlformats.org/officeDocument/2006/relationships/hyperlink" Target="https://www.deeplearningbook.org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955011"/>
            <a:ext cx="2589802" cy="1148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Google Shape;86;p14"/>
          <p:cNvSpPr txBox="1">
            <a:spLocks noGrp="1"/>
          </p:cNvSpPr>
          <p:nvPr>
            <p:ph type="subTitle" idx="1"/>
          </p:nvPr>
        </p:nvSpPr>
        <p:spPr>
          <a:xfrm>
            <a:off x="2056844" y="1462674"/>
            <a:ext cx="705365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60"/>
              <a:buNone/>
            </a:pPr>
            <a:endParaRPr sz="3200" b="1" dirty="0">
              <a:solidFill>
                <a:srgbClr val="B9077E"/>
              </a:solidFill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IN" sz="3200" b="1" dirty="0">
                <a:solidFill>
                  <a:srgbClr val="B9077E"/>
                </a:solidFill>
              </a:rPr>
              <a:t>    </a:t>
            </a:r>
            <a:endParaRPr sz="3200" dirty="0"/>
          </a:p>
        </p:txBody>
      </p:sp>
      <p:pic>
        <p:nvPicPr>
          <p:cNvPr id="88" name="Google Shape;88;p14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840" y="4495800"/>
            <a:ext cx="1479013" cy="184138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2228821" y="3314574"/>
            <a:ext cx="6400800" cy="2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/>
          <a:p>
            <a:pPr marL="0" marR="457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4"/>
          <p:cNvSpPr txBox="1">
            <a:spLocks noGrp="1"/>
          </p:cNvSpPr>
          <p:nvPr>
            <p:ph type="ctrTitle"/>
          </p:nvPr>
        </p:nvSpPr>
        <p:spPr>
          <a:xfrm>
            <a:off x="2228821" y="2262774"/>
            <a:ext cx="6811915" cy="379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 fontScale="90000"/>
          </a:bodyPr>
          <a:lstStyle/>
          <a:p>
            <a:pPr algn="l">
              <a:spcBef>
                <a:spcPts val="1260"/>
              </a:spcBef>
            </a:pP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  <a:b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HCL - MINI PROJECT</a:t>
            </a:r>
            <a:b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Railway Equipment Failure Prediction using 	   LSTM</a:t>
            </a:r>
            <a:br>
              <a:rPr 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PROJECT</a:t>
            </a:r>
            <a:r>
              <a:rPr lang="en-US" sz="2000" spc="-6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spc="-10" dirty="0">
                <a:solidFill>
                  <a:schemeClr val="tx1"/>
                </a:solidFill>
                <a:latin typeface="Times New Roman"/>
                <a:cs typeface="Times New Roman"/>
              </a:rPr>
              <a:t>MEMBERS:</a:t>
            </a:r>
            <a:br>
              <a:rPr lang="en-US" sz="2000" spc="-1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US" sz="2000" spc="-10" dirty="0">
                <a:solidFill>
                  <a:schemeClr val="tx1"/>
                </a:solidFill>
                <a:latin typeface="Times New Roman"/>
                <a:cs typeface="Times New Roman"/>
              </a:rPr>
              <a:t>	</a:t>
            </a:r>
            <a:r>
              <a:rPr lang="en-US" sz="2000" b="0" spc="-10" dirty="0">
                <a:solidFill>
                  <a:schemeClr val="tx1"/>
                </a:solidFill>
                <a:latin typeface="Times New Roman"/>
                <a:cs typeface="Times New Roman"/>
              </a:rPr>
              <a:t>24ADR006 – AKELESHWAR S K</a:t>
            </a:r>
            <a:br>
              <a:rPr lang="en-US" sz="2000" b="0" spc="-1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US" sz="2000" b="0" spc="-10" dirty="0">
                <a:solidFill>
                  <a:schemeClr val="tx1"/>
                </a:solidFill>
                <a:latin typeface="Times New Roman"/>
                <a:cs typeface="Times New Roman"/>
              </a:rPr>
              <a:t>	24ADR007 – AKIL S</a:t>
            </a:r>
            <a:br>
              <a:rPr lang="en-US" sz="2000" b="0" spc="-1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US" sz="2000" b="0" spc="-10" dirty="0">
                <a:solidFill>
                  <a:schemeClr val="tx1"/>
                </a:solidFill>
                <a:latin typeface="Times New Roman"/>
                <a:cs typeface="Times New Roman"/>
              </a:rPr>
              <a:t>	24ADR051 - HARINI K </a:t>
            </a:r>
            <a:r>
              <a:rPr lang="en-US" sz="2000" b="0" spc="-10" dirty="0" err="1">
                <a:solidFill>
                  <a:schemeClr val="tx1"/>
                </a:solidFill>
                <a:latin typeface="Times New Roman"/>
                <a:cs typeface="Times New Roman"/>
              </a:rPr>
              <a:t>K</a:t>
            </a:r>
            <a:endParaRPr sz="2200" b="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AD11B-E2BC-CBAC-B507-955D42498877}"/>
              </a:ext>
            </a:extLst>
          </p:cNvPr>
          <p:cNvSpPr txBox="1"/>
          <p:nvPr/>
        </p:nvSpPr>
        <p:spPr>
          <a:xfrm>
            <a:off x="2228821" y="207009"/>
            <a:ext cx="669634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KONGU ENGINEERING COLLEGE </a:t>
            </a:r>
          </a:p>
          <a:p>
            <a:pPr algn="ctr">
              <a:spcAft>
                <a:spcPts val="600"/>
              </a:spcAft>
            </a:pPr>
            <a:r>
              <a:rPr lang="en-US" sz="24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PERUNDURAI ERODE-638060</a:t>
            </a:r>
          </a:p>
          <a:p>
            <a:pPr algn="ctr">
              <a:spcAft>
                <a:spcPts val="600"/>
              </a:spcAft>
            </a:pPr>
            <a:r>
              <a:rPr lang="en-US" sz="24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ARTIFICIAL  INTELLIGENCE &amp;</a:t>
            </a:r>
          </a:p>
          <a:p>
            <a:pPr algn="ctr">
              <a:spcAft>
                <a:spcPts val="600"/>
              </a:spcAft>
            </a:pPr>
            <a:r>
              <a:rPr lang="en-US" sz="24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SCIENCE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42045" y="402672"/>
            <a:ext cx="8229600" cy="595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EA28EA-5EA1-C41F-B4F5-3668C41DE3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5362" y="1351508"/>
            <a:ext cx="665838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Railway equipment operates continuously under varying conditions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Failures can occur due to wear, overheating, or stress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Leads to: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Train delays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High maintenance cost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Safety risks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maintenance is reactive and inefficient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predictive maintenance system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779954" y="1448256"/>
            <a:ext cx="8229600" cy="467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use rule-based or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models.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(SVM, Random Forest) used for prediction.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improve accuracy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(Long Short-Term Memory)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716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Captures long-term dependencies </a:t>
            </a:r>
          </a:p>
          <a:p>
            <a:pPr marL="13716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Suitable for time-series prediction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(Gated Recurrent Unit)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716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Faster than LSTM </a:t>
            </a:r>
          </a:p>
          <a:p>
            <a:pPr marL="13716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Less computational complexity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3252132" y="591815"/>
            <a:ext cx="4367868" cy="544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LITERATURE SURVEY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2095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/>
        </p:nvSpPr>
        <p:spPr>
          <a:xfrm>
            <a:off x="2907792" y="674658"/>
            <a:ext cx="3328416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OBJECTIVE</a:t>
            </a:r>
            <a:endParaRPr dirty="0"/>
          </a:p>
        </p:txBody>
      </p:sp>
      <p:sp>
        <p:nvSpPr>
          <p:cNvPr id="116" name="Google Shape;116;p18"/>
          <p:cNvSpPr/>
          <p:nvPr/>
        </p:nvSpPr>
        <p:spPr>
          <a:xfrm>
            <a:off x="630620" y="1714500"/>
            <a:ext cx="820858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Clr>
                <a:schemeClr val="dk1"/>
              </a:buClr>
              <a:buSzPts val="2000"/>
              <a:buFont typeface="Noto Sans Symbols"/>
              <a:buChar char="⮚"/>
            </a:pPr>
            <a:endParaRPr lang="en-GB" sz="2000" dirty="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01B27-8884-37FB-F7F2-566D2702B6B6}"/>
              </a:ext>
            </a:extLst>
          </p:cNvPr>
          <p:cNvSpPr txBox="1"/>
          <p:nvPr/>
        </p:nvSpPr>
        <p:spPr>
          <a:xfrm>
            <a:off x="999744" y="1597152"/>
            <a:ext cx="7839456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machine failure using sensor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LSTM and GRU 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performance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decision support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maintenance cost and downtime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accurate deep learning model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52BED-5E43-4ECB-19A5-A94FAA8FA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801" y="0"/>
            <a:ext cx="5530215" cy="1027176"/>
          </a:xfrm>
        </p:spPr>
        <p:txBody>
          <a:bodyPr/>
          <a:lstStyle/>
          <a:p>
            <a:pPr algn="ctr"/>
            <a:r>
              <a:rPr lang="en-IN" sz="30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03A2E8-06B4-E150-D439-E3E63B4DD7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1" y="1346433"/>
            <a:ext cx="7910818" cy="551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560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3CACA78A-ACF7-29C2-4E89-DEAFF7D15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>
            <a:extLst>
              <a:ext uri="{FF2B5EF4-FFF2-40B4-BE49-F238E27FC236}">
                <a16:creationId xmlns:a16="http://schemas.microsoft.com/office/drawing/2014/main" id="{325C655D-3D57-E74A-6F4D-CB2CE2A25D0E}"/>
              </a:ext>
            </a:extLst>
          </p:cNvPr>
          <p:cNvSpPr txBox="1"/>
          <p:nvPr/>
        </p:nvSpPr>
        <p:spPr>
          <a:xfrm>
            <a:off x="1850779" y="364266"/>
            <a:ext cx="5931408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DATASET DESCRIPTION</a:t>
            </a:r>
            <a:endParaRPr dirty="0"/>
          </a:p>
        </p:txBody>
      </p:sp>
      <p:sp>
        <p:nvSpPr>
          <p:cNvPr id="116" name="Google Shape;116;p18">
            <a:extLst>
              <a:ext uri="{FF2B5EF4-FFF2-40B4-BE49-F238E27FC236}">
                <a16:creationId xmlns:a16="http://schemas.microsoft.com/office/drawing/2014/main" id="{E3CEBDDE-EB20-1937-A17C-62C4E3BF39E1}"/>
              </a:ext>
            </a:extLst>
          </p:cNvPr>
          <p:cNvSpPr/>
          <p:nvPr/>
        </p:nvSpPr>
        <p:spPr>
          <a:xfrm>
            <a:off x="630620" y="1714500"/>
            <a:ext cx="820858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Clr>
                <a:schemeClr val="dk1"/>
              </a:buClr>
              <a:buSzPts val="2000"/>
              <a:buFont typeface="Noto Sans Symbols"/>
              <a:buChar char="⮚"/>
            </a:pPr>
            <a:endParaRPr lang="en-GB" sz="2000" dirty="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CA5984-3A92-A78A-C88B-25FC18FAB487}"/>
              </a:ext>
            </a:extLst>
          </p:cNvPr>
          <p:cNvSpPr txBox="1"/>
          <p:nvPr/>
        </p:nvSpPr>
        <p:spPr>
          <a:xfrm>
            <a:off x="896755" y="1009923"/>
            <a:ext cx="783945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AI4I 2020 Predictive Maintenance Dataset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UCI Machine Learning Repository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10,000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machine failure prediction 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Used				Target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Temperature 				 0 → No Failure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Temperature 			 1 → Failure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Rotational Speed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Torque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Wear 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normalization using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creation for LSTM and GRU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 performed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railway equipment failure using deep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2581935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2842526" y="308603"/>
            <a:ext cx="5193792" cy="55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algn="ctr"/>
            <a:r>
              <a:rPr lang="en-I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196DA7-5F24-E8ED-D915-85BF6C504A06}"/>
              </a:ext>
            </a:extLst>
          </p:cNvPr>
          <p:cNvSpPr txBox="1"/>
          <p:nvPr/>
        </p:nvSpPr>
        <p:spPr>
          <a:xfrm>
            <a:off x="753276" y="1228876"/>
            <a:ext cx="394455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Module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the dataset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sensor data for prediction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Module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and normalizes data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data into sequence format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Module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LSTM and GRU models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hyperparameter tuning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864AA9-DA5D-F73F-7568-B912998825CC}"/>
              </a:ext>
            </a:extLst>
          </p:cNvPr>
          <p:cNvSpPr txBox="1"/>
          <p:nvPr/>
        </p:nvSpPr>
        <p:spPr>
          <a:xfrm>
            <a:off x="4991449" y="1222640"/>
            <a:ext cx="40938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Module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machine failure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Failure / No Failure output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Module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model performance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accuracy and confusion matrix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Module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prediction results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user interface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1681A18A-7ABA-849F-27C3-BA296E8BE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EDC20E27-9443-9CF0-4FEB-9809A82D0F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2526" y="308603"/>
            <a:ext cx="5193792" cy="55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algn="ctr"/>
            <a:r>
              <a:rPr lang="en-I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METRICS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7" name="Google Shape;137;p21">
            <a:extLst>
              <a:ext uri="{FF2B5EF4-FFF2-40B4-BE49-F238E27FC236}">
                <a16:creationId xmlns:a16="http://schemas.microsoft.com/office/drawing/2014/main" id="{D2FD8297-0589-B3AA-47B6-047FC783EC2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5E3E71-4AC1-A95C-EFFA-1773D66C417F}"/>
              </a:ext>
            </a:extLst>
          </p:cNvPr>
          <p:cNvSpPr txBox="1"/>
          <p:nvPr/>
        </p:nvSpPr>
        <p:spPr>
          <a:xfrm>
            <a:off x="753276" y="1228876"/>
            <a:ext cx="394455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overall prediction correctness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correct failure predictions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ability to detect actual failures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Balances precision and recall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E9CBB-18E6-5406-A9F4-CBCFA1C42BB7}"/>
              </a:ext>
            </a:extLst>
          </p:cNvPr>
          <p:cNvSpPr txBox="1"/>
          <p:nvPr/>
        </p:nvSpPr>
        <p:spPr>
          <a:xfrm>
            <a:off x="4991449" y="1222640"/>
            <a:ext cx="409382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correct and incorrect predictions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prediction error rate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average prediction error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LSTM and GRU performance</a:t>
            </a:r>
          </a:p>
        </p:txBody>
      </p:sp>
    </p:spTree>
    <p:extLst>
      <p:ext uri="{BB962C8B-B14F-4D97-AF65-F5344CB8AC3E}">
        <p14:creationId xmlns:p14="http://schemas.microsoft.com/office/powerpoint/2010/main" val="2876639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3A17330C-9C2E-607F-CAC6-0B0853F56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A5AB31A6-E5E4-21F4-400A-E2C6128E60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983" y="105443"/>
            <a:ext cx="3517392" cy="55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 SHORTS</a:t>
            </a:r>
            <a:endParaRPr dirty="0"/>
          </a:p>
        </p:txBody>
      </p:sp>
      <p:sp>
        <p:nvSpPr>
          <p:cNvPr id="137" name="Google Shape;137;p21">
            <a:extLst>
              <a:ext uri="{FF2B5EF4-FFF2-40B4-BE49-F238E27FC236}">
                <a16:creationId xmlns:a16="http://schemas.microsoft.com/office/drawing/2014/main" id="{BF873E41-9968-1DE8-CB8A-1121A91001A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C10ED-AD24-E9A0-45C1-7C771EDEA58F}"/>
              </a:ext>
            </a:extLst>
          </p:cNvPr>
          <p:cNvSpPr txBox="1"/>
          <p:nvPr/>
        </p:nvSpPr>
        <p:spPr>
          <a:xfrm>
            <a:off x="3051313" y="846447"/>
            <a:ext cx="3968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Model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3D3FFD-EB8B-0653-CC86-EC8D5A89D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290" y="1308683"/>
            <a:ext cx="4236957" cy="22120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0E5D88-D334-EE38-E17D-FB6B966D9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729" y="4051398"/>
            <a:ext cx="4060272" cy="28066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EF851D-4FAD-23B9-AAC5-C492E83E8BFB}"/>
              </a:ext>
            </a:extLst>
          </p:cNvPr>
          <p:cNvSpPr txBox="1"/>
          <p:nvPr/>
        </p:nvSpPr>
        <p:spPr>
          <a:xfrm>
            <a:off x="5083728" y="3682066"/>
            <a:ext cx="387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CLASSIFICATION REPORT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A59B8D-E0A0-8A0E-039D-8C100BBD6B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69" y="4051398"/>
            <a:ext cx="4463459" cy="27939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B68FF98-432E-BAED-716A-100CEC4B8062}"/>
              </a:ext>
            </a:extLst>
          </p:cNvPr>
          <p:cNvSpPr txBox="1"/>
          <p:nvPr/>
        </p:nvSpPr>
        <p:spPr>
          <a:xfrm>
            <a:off x="655153" y="3682066"/>
            <a:ext cx="3871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CLASSIFICATION REPORT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18070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9C4BDB68-6CB7-5D06-48BA-9EB06E87E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E70A5FBF-20C0-F8F1-3103-5B9EC232F3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0960" y="136525"/>
            <a:ext cx="3517392" cy="55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 SHORTS</a:t>
            </a:r>
            <a:endParaRPr dirty="0"/>
          </a:p>
        </p:txBody>
      </p:sp>
      <p:sp>
        <p:nvSpPr>
          <p:cNvPr id="137" name="Google Shape;137;p21">
            <a:extLst>
              <a:ext uri="{FF2B5EF4-FFF2-40B4-BE49-F238E27FC236}">
                <a16:creationId xmlns:a16="http://schemas.microsoft.com/office/drawing/2014/main" id="{0C76EB3E-DC5F-7F81-41BB-DA85897DED0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AEA60-8FF8-D59B-228C-3DA306383338}"/>
              </a:ext>
            </a:extLst>
          </p:cNvPr>
          <p:cNvSpPr txBox="1"/>
          <p:nvPr/>
        </p:nvSpPr>
        <p:spPr>
          <a:xfrm>
            <a:off x="1409349" y="1168794"/>
            <a:ext cx="30787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LOSS GRAPH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D7C18C-93B4-36B2-50F1-926D017F9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53" y="1723308"/>
            <a:ext cx="4225086" cy="50714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CB8B7D-94DE-9A10-DB92-D96991A65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915" y="1723308"/>
            <a:ext cx="4225086" cy="51346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2A9A4F-98E7-D62E-C21D-44CD9C327C46}"/>
              </a:ext>
            </a:extLst>
          </p:cNvPr>
          <p:cNvSpPr txBox="1"/>
          <p:nvPr/>
        </p:nvSpPr>
        <p:spPr>
          <a:xfrm>
            <a:off x="5863905" y="1168793"/>
            <a:ext cx="2734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LOSS GRAPH</a:t>
            </a:r>
          </a:p>
        </p:txBody>
      </p:sp>
    </p:spTree>
    <p:extLst>
      <p:ext uri="{BB962C8B-B14F-4D97-AF65-F5344CB8AC3E}">
        <p14:creationId xmlns:p14="http://schemas.microsoft.com/office/powerpoint/2010/main" val="1283143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8A693690-C7D5-9A44-549E-EFCEC2FB7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44F62471-3F12-15DF-45CA-7917703FDE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3479" y="26191"/>
            <a:ext cx="3517392" cy="55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 SHORTS</a:t>
            </a:r>
            <a:endParaRPr sz="2800" dirty="0"/>
          </a:p>
        </p:txBody>
      </p:sp>
      <p:sp>
        <p:nvSpPr>
          <p:cNvPr id="137" name="Google Shape;137;p21">
            <a:extLst>
              <a:ext uri="{FF2B5EF4-FFF2-40B4-BE49-F238E27FC236}">
                <a16:creationId xmlns:a16="http://schemas.microsoft.com/office/drawing/2014/main" id="{BD91CA82-9FEB-CD77-916A-054C287B52D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CCF57-FD18-2B12-C3FB-3338BEB83C90}"/>
              </a:ext>
            </a:extLst>
          </p:cNvPr>
          <p:cNvSpPr txBox="1"/>
          <p:nvPr/>
        </p:nvSpPr>
        <p:spPr>
          <a:xfrm>
            <a:off x="2919367" y="811106"/>
            <a:ext cx="486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vs GRU ACCURACY COMPARISON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1567FD-7170-DE43-9894-D3B1C21D7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737" y="1298682"/>
            <a:ext cx="6920918" cy="553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11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54E4E457-2040-FFF9-AFD4-3ADD1DF4C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2B641E5C-1F79-41B7-541A-97999A486C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2526" y="308603"/>
            <a:ext cx="5193792" cy="55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algn="ctr"/>
            <a:r>
              <a:rPr lang="en-I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ACHIEVED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7" name="Google Shape;137;p21">
            <a:extLst>
              <a:ext uri="{FF2B5EF4-FFF2-40B4-BE49-F238E27FC236}">
                <a16:creationId xmlns:a16="http://schemas.microsoft.com/office/drawing/2014/main" id="{89BE8E15-E596-8CDE-DD5C-B5CA5DC31C8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844187-FB09-F6D4-1453-F2AD7C4E95D6}"/>
              </a:ext>
            </a:extLst>
          </p:cNvPr>
          <p:cNvSpPr txBox="1"/>
          <p:nvPr/>
        </p:nvSpPr>
        <p:spPr>
          <a:xfrm>
            <a:off x="753276" y="1228876"/>
            <a:ext cx="76776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railway equipment failure prediction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LSTM and GRU deep learning models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accurate failure prediction using sensor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performance of LSTM and GRU models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false predictions using hyperparameter tuning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real-time Failure / No Failure results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Flask-based web application for prediction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predictive maintenance and railway safety</a:t>
            </a:r>
          </a:p>
        </p:txBody>
      </p:sp>
    </p:spTree>
    <p:extLst>
      <p:ext uri="{BB962C8B-B14F-4D97-AF65-F5344CB8AC3E}">
        <p14:creationId xmlns:p14="http://schemas.microsoft.com/office/powerpoint/2010/main" val="1547873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ED6434-9930-F514-5A4D-3A41AD830566}"/>
              </a:ext>
            </a:extLst>
          </p:cNvPr>
          <p:cNvSpPr txBox="1"/>
          <p:nvPr/>
        </p:nvSpPr>
        <p:spPr>
          <a:xfrm>
            <a:off x="3045539" y="403860"/>
            <a:ext cx="30382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147AF5-6BD5-B74B-D70C-B9B5CEADAF3F}"/>
              </a:ext>
            </a:extLst>
          </p:cNvPr>
          <p:cNvSpPr txBox="1"/>
          <p:nvPr/>
        </p:nvSpPr>
        <p:spPr>
          <a:xfrm>
            <a:off x="1133744" y="1318585"/>
            <a:ext cx="73761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intelligent railway equipment failure prediction system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LSTM and GRU deep learning models for predictive maintenance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accurate prediction using sensor data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the performance of LSTM and GRU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maintenance cost and unexpected equipment failures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railway safety through early failure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 real-time web-based prediction system </a:t>
            </a:r>
          </a:p>
        </p:txBody>
      </p:sp>
    </p:spTree>
    <p:extLst>
      <p:ext uri="{BB962C8B-B14F-4D97-AF65-F5344CB8AC3E}">
        <p14:creationId xmlns:p14="http://schemas.microsoft.com/office/powerpoint/2010/main" val="150049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CE78B-5CB8-2B15-471B-47CF54459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F2C239-D276-E62A-72A1-AED76FF6912F}"/>
              </a:ext>
            </a:extLst>
          </p:cNvPr>
          <p:cNvSpPr txBox="1"/>
          <p:nvPr/>
        </p:nvSpPr>
        <p:spPr>
          <a:xfrm>
            <a:off x="3045539" y="403860"/>
            <a:ext cx="30382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B4B90-4C20-B47E-937D-E89C8B9396CC}"/>
              </a:ext>
            </a:extLst>
          </p:cNvPr>
          <p:cNvSpPr txBox="1"/>
          <p:nvPr/>
        </p:nvSpPr>
        <p:spPr>
          <a:xfrm>
            <a:off x="1133744" y="1318585"/>
            <a:ext cx="737616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UCI Machine Learning Repository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https://archive.ics.uci.edu/ml/datasets/AI4I+2020+Predictive+Maintenance+Dataset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Research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Hochreiter, S.,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Schmidhuber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(1997)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Short-Term Memory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https://doi.org/10.1162/neco.1997.9.8.1735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Research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Cho, K. et al. (2014)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Phrase Representations using RNN Encoder–Decoder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https://arxiv.org/abs/1406.1078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Book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Goodfellow, I., Bengio, Y., Courville, A.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https://www.deeplearningbook.org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Documentation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Official Docs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https://www.tensorflow.org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https://scikit-learn.org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961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>
            <a:spLocks noGrp="1"/>
          </p:cNvSpPr>
          <p:nvPr>
            <p:ph type="title"/>
          </p:nvPr>
        </p:nvSpPr>
        <p:spPr>
          <a:xfrm>
            <a:off x="601717" y="572814"/>
            <a:ext cx="82296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dirty="0">
                <a:solidFill>
                  <a:schemeClr val="dk1"/>
                </a:solidFill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THANK YOU</a:t>
            </a:r>
            <a:endParaRPr sz="6000" dirty="0">
              <a:solidFill>
                <a:schemeClr val="dk1"/>
              </a:solidFill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3656</TotalTime>
  <Words>684</Words>
  <Application>Microsoft Office PowerPoint</Application>
  <PresentationFormat>On-screen Show (4:3)</PresentationFormat>
  <Paragraphs>151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Noto Sans Symbols</vt:lpstr>
      <vt:lpstr>Times New Roman</vt:lpstr>
      <vt:lpstr>Wingdings</vt:lpstr>
      <vt:lpstr>Flow</vt:lpstr>
      <vt:lpstr>    DEEP LEARNING       HCL - MINI PROJECT  TITLE: Railway Equipment Failure Prediction using     LSTM    PROJECT MEMBERS:  24ADR006 – AKELESHWAR S K  24ADR007 – AKIL S  24ADR051 - HARINI K K</vt:lpstr>
      <vt:lpstr>PROBLEM STATEMENT</vt:lpstr>
      <vt:lpstr>LITERATURE SURVEY</vt:lpstr>
      <vt:lpstr>PowerPoint Presentation</vt:lpstr>
      <vt:lpstr>ARCHITECTURE DIAGRAM</vt:lpstr>
      <vt:lpstr>PowerPoint Presentation</vt:lpstr>
      <vt:lpstr>MODULES EXPLANATION</vt:lpstr>
      <vt:lpstr>PERFORMANCE METRICS</vt:lpstr>
      <vt:lpstr>SCREEN SHORTS</vt:lpstr>
      <vt:lpstr>SCREEN SHORTS</vt:lpstr>
      <vt:lpstr>SCREEN SHORTS</vt:lpstr>
      <vt:lpstr>RESULTS ACHIEVED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-PROJECT TITLE- SDG (NO) – TYPE  24GEP41- MINI PROJECT 2 REVIEW - 2  PROJECT GUIDE NAME DESIGNATION   PROJECT MEMBER NAME – ROLL NO </dc:title>
  <dc:creator>saliniyan</dc:creator>
  <cp:lastModifiedBy>AKIL AKASH</cp:lastModifiedBy>
  <cp:revision>19</cp:revision>
  <dcterms:modified xsi:type="dcterms:W3CDTF">2026-05-28T03:17:12Z</dcterms:modified>
</cp:coreProperties>
</file>